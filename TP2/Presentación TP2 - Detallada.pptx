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CD5B49-E8AB-49DD-820D-CC4A440BD8A2}">
  <a:tblStyle styleId="{C2CD5B49-E8AB-49DD-820D-CC4A440BD8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oppins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5.xml"/><Relationship Id="rId33" Type="http://schemas.openxmlformats.org/officeDocument/2006/relationships/font" Target="fonts/Lato-bold.fntdata"/><Relationship Id="rId10" Type="http://schemas.openxmlformats.org/officeDocument/2006/relationships/slide" Target="slides/slide4.xml"/><Relationship Id="rId32" Type="http://schemas.openxmlformats.org/officeDocument/2006/relationships/font" Target="fonts/Lato-regular.fntdata"/><Relationship Id="rId13" Type="http://schemas.openxmlformats.org/officeDocument/2006/relationships/slide" Target="slides/slide7.xml"/><Relationship Id="rId35" Type="http://schemas.openxmlformats.org/officeDocument/2006/relationships/font" Target="fonts/Lato-boldItalic.fntdata"/><Relationship Id="rId12" Type="http://schemas.openxmlformats.org/officeDocument/2006/relationships/slide" Target="slides/slide6.xml"/><Relationship Id="rId34" Type="http://schemas.openxmlformats.org/officeDocument/2006/relationships/font" Target="fonts/Lato-italic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28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45940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Búsqueda en Inteligencia Artificial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255740"/>
            <a:ext cx="11049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Trabajo Práctico 2: Búsqueda no Informada e Informada</a:t>
            </a:r>
            <a:endParaRPr b="0" i="0" sz="1800" u="none" cap="none" strike="noStrike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Integrantes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 Caprioli, Kaiser, Ortiz, Quintana</a:t>
            </a:r>
            <a:endParaRPr sz="18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5125475" cy="6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28862"/>
            <a:ext cx="5286375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28862"/>
            <a:ext cx="5286375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271938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¿Por qué Búsqueda?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26231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Inteligencia Artificial, cuando un agente no sabe inmediatamente qué secuencia de acciones lo llevará a su meta, debe explorar alternativas sistemáticamente.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43195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proceso de buscar una solución evaluando escenarios futuros se conoce como búsqueda.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271938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del Trabajo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848475" y="32623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962775" y="3262312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Comprender la diferencia fundamental entre búsquedas informadas y ciegas.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48475" y="40147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962775" y="401478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Entender el rol de una función heurística.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848475" y="44624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962775" y="4462462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Trazar y ejecutar algoritmos como BFS, DFS y A* en mapas estáticos y dinámicos.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Introducción al Problema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5524500" y="2652712"/>
            <a:ext cx="11430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2530554" y="2995612"/>
            <a:ext cx="7130891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Fundamentos Teóricos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481637" y="4043362"/>
            <a:ext cx="122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Ejercicios 1 a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52625"/>
            <a:ext cx="5286375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2625"/>
            <a:ext cx="5286375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962025" y="23431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Búsqueda No Informada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62025" y="288607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Navega a ciegas. No posee información adicional sobre qué estados pueden ser más convenientes para alcanzar el objetivo.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724650" y="23431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Búsqueda Informada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724650" y="288607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Navega con un mapa. Dispone de información adicional para estimar cuán lejos está la meta.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85850" y="39433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200150" y="394335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Conoce únicamente: estado inicial, acciones posibles y el test objetivo.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85850" y="46958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200150" y="46958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Explora con estrategia estricta y mecánica.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85850" y="51435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200150" y="514350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Amplitud (BFS), Profundidad (DFS).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848475" y="36385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962775" y="363855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Orienta la búsqueda hacia los estados más prometedores.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848475" y="43910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962775" y="439102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Reduce dramáticamente la cantidad de nodos explorados inútilmente.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848475" y="51435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962775" y="514350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Avara (Greedy), A*.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1: Estrategias de Búsqueda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2286000" y="5036939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 ejemplo, en problemas de rutas espaciales, la heurística h(n) más común suele ser la "distancia en línea recta" o la "distancia de Manhattan" hacia el destino.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867475" y="1671100"/>
            <a:ext cx="8440500" cy="29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 heurística estima el costo restante hasta el objetivo y guía al algoritmo sin conocer la solución exacta. </a:t>
            </a:r>
            <a:endParaRPr sz="2100"/>
          </a:p>
        </p:txBody>
      </p:sp>
      <p:sp>
        <p:nvSpPr>
          <p:cNvPr id="143" name="Google Shape;143;p17"/>
          <p:cNvSpPr txBox="1"/>
          <p:nvPr/>
        </p:nvSpPr>
        <p:spPr>
          <a:xfrm>
            <a:off x="1485900" y="2369939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BAE6FD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0429875" y="4655939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BAE6FD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2: El Rol de la Heurística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33562"/>
            <a:ext cx="342900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833562"/>
            <a:ext cx="342900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833562"/>
            <a:ext cx="34290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95813" y="3100387"/>
            <a:ext cx="298037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Problemas sin Solución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66775" y="404336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Puede ocurrir que el problema planteado no tenga ninguna secuencia física o lógica de estados que permita conectar el estado inicial con el objetivo.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665821" y="3100387"/>
            <a:ext cx="286035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Fallas del Algoritmo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676775" y="364331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solución existe, pero el algoritmo se pierde. Por ejemplo, DFS en un árbol con ramas infinitas puede quedar atrapado para siempre.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000886" y="3100387"/>
            <a:ext cx="181022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Completitud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486775" y="364331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 cualidad define si un algoritmo garantiza encontrar la solución cuando existe. Algoritmos como BFS o A* son siempre completos.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9300" y="2281237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62625" y="2281237"/>
            <a:ext cx="6667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2637" y="2281237"/>
            <a:ext cx="4667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3: ¿Búsquedas sin Solución?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/>
          <p:nvPr/>
        </p:nvSpPr>
        <p:spPr>
          <a:xfrm>
            <a:off x="5524500" y="2652712"/>
            <a:ext cx="11430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2870596" y="2995612"/>
            <a:ext cx="6450806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Recorrido de Árboles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329237" y="4043362"/>
            <a:ext cx="1533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Ejercicios 4.1 a 4.3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/>
        </p:nvSpPr>
        <p:spPr>
          <a:xfrm>
            <a:off x="571500" y="15478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Recorre el árbol por niveles utilizando una estructura FIFO (Cola). Explora lo superficial antes de lo profundo.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59388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Secuencia completa: A → D → F → I → H → J → C → E → P → O → K → Z → W → B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71500" y="2043112"/>
            <a:ext cx="11049000" cy="37052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20"/>
          <p:cNvGraphicFramePr/>
          <p:nvPr/>
        </p:nvGraphicFramePr>
        <p:xfrm>
          <a:off x="571500" y="20431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{C2CD5B49-E8AB-49DD-820D-CC4A440BD8A2}</a:tableStyleId>
              </a:tblPr>
              <a:tblGrid>
                <a:gridCol w="1650500"/>
                <a:gridCol w="3452800"/>
                <a:gridCol w="5945675"/>
              </a:tblGrid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Paso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Nodo evaluado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Cola de expansión (Frontera)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D, F, 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F, I, H, J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I, H, J, C, 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...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...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...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17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 (Fin)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20"/>
          <p:cNvSpPr/>
          <p:nvPr/>
        </p:nvSpPr>
        <p:spPr>
          <a:xfrm>
            <a:off x="571500" y="2647950"/>
            <a:ext cx="16505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222003" y="2647950"/>
            <a:ext cx="3452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674816" y="2647950"/>
            <a:ext cx="5945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71500" y="3267075"/>
            <a:ext cx="16505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222003" y="3267075"/>
            <a:ext cx="3452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674816" y="3267075"/>
            <a:ext cx="5945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71500" y="3886200"/>
            <a:ext cx="16505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2222003" y="3886200"/>
            <a:ext cx="3452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674816" y="3886200"/>
            <a:ext cx="5945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71500" y="4505325"/>
            <a:ext cx="16505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222003" y="4505325"/>
            <a:ext cx="3452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674816" y="4505325"/>
            <a:ext cx="5945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71500" y="5124450"/>
            <a:ext cx="16505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222003" y="5124450"/>
            <a:ext cx="3452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674816" y="5124450"/>
            <a:ext cx="5945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471487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4.1: Primero en Amplitud (BFS)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1138237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/>
        </p:nvSpPr>
        <p:spPr>
          <a:xfrm>
            <a:off x="571500" y="15478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 una estructura LIFO (Pila). Avanza por una rama hasta agotarla completamente antes de evaluar ramas alternativas.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59388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Secuencia completa: A → D → H → P → O → J → K → B → F → C → Z → W → E → I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71500" y="2043112"/>
            <a:ext cx="11049000" cy="37052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21"/>
          <p:cNvGraphicFramePr/>
          <p:nvPr/>
        </p:nvGraphicFramePr>
        <p:xfrm>
          <a:off x="571500" y="20431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{C2CD5B49-E8AB-49DD-820D-CC4A440BD8A2}</a:tableStyleId>
              </a:tblPr>
              <a:tblGrid>
                <a:gridCol w="1681300"/>
                <a:gridCol w="3517100"/>
                <a:gridCol w="5850575"/>
              </a:tblGrid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Paso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Nodo evaluado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Pila de expansión (Frontera)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D, F, 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H, J, F, 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P, O, J, F, 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...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...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...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17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 (Fin)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1"/>
          <p:cNvSpPr/>
          <p:nvPr/>
        </p:nvSpPr>
        <p:spPr>
          <a:xfrm>
            <a:off x="571500" y="2647950"/>
            <a:ext cx="1681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2252811" y="2647950"/>
            <a:ext cx="3517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769917" y="2647950"/>
            <a:ext cx="5850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1500" y="3267075"/>
            <a:ext cx="1681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252811" y="3267075"/>
            <a:ext cx="3517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769917" y="3267075"/>
            <a:ext cx="5850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71500" y="3886200"/>
            <a:ext cx="1681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2252811" y="3886200"/>
            <a:ext cx="3517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769917" y="3886200"/>
            <a:ext cx="5850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71500" y="4505325"/>
            <a:ext cx="1681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252811" y="4505325"/>
            <a:ext cx="3517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769917" y="4505325"/>
            <a:ext cx="5850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71500" y="5124450"/>
            <a:ext cx="1681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252811" y="5124450"/>
            <a:ext cx="3517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769917" y="5124450"/>
            <a:ext cx="5850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471487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4.2: Primero en Profundidad (DFS)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571500" y="1138237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/>
          <p:nvPr/>
        </p:nvSpPr>
        <p:spPr>
          <a:xfrm>
            <a:off x="571500" y="21764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 DFS pero con un límite de profundidad máximo (L). Si no encuentra la solución, incrementa el límite y reinicia el proceso.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71500" y="2671762"/>
            <a:ext cx="11049000" cy="30861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8" name="Google Shape;228;p22"/>
          <p:cNvGraphicFramePr/>
          <p:nvPr/>
        </p:nvGraphicFramePr>
        <p:xfrm>
          <a:off x="571500" y="26717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{C2CD5B49-E8AB-49DD-820D-CC4A440BD8A2}</a:tableStyleId>
              </a:tblPr>
              <a:tblGrid>
                <a:gridCol w="3501025"/>
                <a:gridCol w="7547975"/>
              </a:tblGrid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Límite de Profundidad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Secuencia de Recorrido Obtenida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Iteración 1 (L=1)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→ D → F → 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Iteración 2 (L=2)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→ D → H → J → F → C → E → 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Iteración 3 (L=3)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→ D → H → P → O → J → K → F → C → Z → W → E → 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Iteración 4 (L=4)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→ D → H → P → O → J → K → B → F → C → Z → W → E → 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29" name="Google Shape;229;p22"/>
          <p:cNvSpPr/>
          <p:nvPr/>
        </p:nvSpPr>
        <p:spPr>
          <a:xfrm>
            <a:off x="571500" y="3276600"/>
            <a:ext cx="35010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4072532" y="3276600"/>
            <a:ext cx="7547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71500" y="3895725"/>
            <a:ext cx="35010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4072532" y="3895725"/>
            <a:ext cx="7547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71500" y="4514850"/>
            <a:ext cx="35010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4072532" y="4514850"/>
            <a:ext cx="7547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71500" y="5133975"/>
            <a:ext cx="35010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4072532" y="5133975"/>
            <a:ext cx="7547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4.3: Profundidad Limitada Iterativa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/>
          <p:nvPr/>
        </p:nvSpPr>
        <p:spPr>
          <a:xfrm>
            <a:off x="5524500" y="2652712"/>
            <a:ext cx="11430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2120503" y="2995612"/>
            <a:ext cx="795099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Implementación Práctica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3805237" y="4043362"/>
            <a:ext cx="4581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Ejercicio 5: Resolución y Navegación en Tablero Estático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33587"/>
            <a:ext cx="3429000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33587"/>
            <a:ext cx="3429000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033587"/>
            <a:ext cx="342900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845819" y="3300412"/>
            <a:ext cx="28803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 y Distancia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866775" y="3843337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Navegar desde la casilla "I" hacia la casilla "F". Se utiliza la Distancia de Manhattan como heurística para guiarnos hacia el destino.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4770834" y="3300412"/>
            <a:ext cx="265033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Costos de Casillas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4676775" y="3843337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Avanzar a cualquier celda transitable tiene un costo de g(n)=1. La única excepción es la celda "W", cruzarla penaliza con un alto costo de 30.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8995886" y="3300412"/>
            <a:ext cx="182022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Desempates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8486775" y="3843337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durante la expansión de nodos dos casillas poseen idéntico costo de selección, el algoritmo debe romper el empate utilizando estricto orden alfabético.</a:t>
            </a:r>
            <a:endParaRPr/>
          </a:p>
        </p:txBody>
      </p:sp>
      <p:pic>
        <p:nvPicPr>
          <p:cNvPr descr="image.png" id="259" name="Google Shape;25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85962" y="2481262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9300" y="248126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5962" y="2481262"/>
            <a:ext cx="60007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5: Reglas del Entorno</a:t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621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571500" y="206216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 algoritmo selecciona nodos sin mirar distancias ni costos.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695325" y="25098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809625" y="25098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Estrategia: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Exploración profunda hacia nodos alfabéticamente prioritarios.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695325" y="32623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809625" y="32623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Camino Resultante: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 → G → P → Q → R → T → K → C → A → B → D → M → F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695325" y="40147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809625" y="40147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Costo Total: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12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695325" y="44624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809625" y="44624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Observación: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Toma un desvío gigantesco y subóptimo en la zona superior de la red, evaluando múltiples nodos inútiles antes de lograr bajar hasta "F".</a:t>
            </a:r>
            <a:endParaRPr/>
          </a:p>
        </p:txBody>
      </p:sp>
      <p:pic>
        <p:nvPicPr>
          <p:cNvPr descr="image.png" id="278" name="Google Shape;2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393305"/>
            <a:ext cx="5267325" cy="314756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5.1: Profundidad (DFS) en Tablero</a:t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621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571500" y="20621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Decide basándose exclusivamente en el cálculo heurístico, buscando la casilla físicamente más cercana a "F".</a:t>
            </a:r>
            <a:endParaRPr/>
          </a:p>
        </p:txBody>
      </p:sp>
      <p:pic>
        <p:nvPicPr>
          <p:cNvPr descr="image.png" id="287" name="Google Shape;28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5804"/>
            <a:ext cx="1486941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 txBox="1"/>
          <p:nvPr/>
        </p:nvSpPr>
        <p:spPr>
          <a:xfrm>
            <a:off x="695325" y="30908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809625" y="3090862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Camino Resultante: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 -&gt; W -&gt; K -&gt; M -&gt; F 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695325" y="35385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809625" y="353853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Costo Total: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33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695325" y="39862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809625" y="398621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Observación: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Evita rodeos al priorizar distancia física, pero es propensa a fallar si obstáculos bloquean la ruta directa porque ignora costos acumulados.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5.2: Búsqueda Avara</a:t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9900" y="2331350"/>
            <a:ext cx="5692051" cy="340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621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7"/>
          <p:cNvSpPr txBox="1"/>
          <p:nvPr/>
        </p:nvSpPr>
        <p:spPr>
          <a:xfrm>
            <a:off x="571500" y="20621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A* toma decisiones ponderando tanto el sacrificio realizado g(n) como la distancia restante h(n).</a:t>
            </a:r>
            <a:endParaRPr/>
          </a:p>
        </p:txBody>
      </p:sp>
      <p:pic>
        <p:nvPicPr>
          <p:cNvPr descr="image.png" id="303" name="Google Shape;30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81312"/>
            <a:ext cx="237738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 txBox="1"/>
          <p:nvPr/>
        </p:nvSpPr>
        <p:spPr>
          <a:xfrm>
            <a:off x="695325" y="30908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809625" y="30908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Camino Resultante: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 → Q → R → T → K → M → F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695325" y="35385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809625" y="35385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Costo Total: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6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695325" y="39862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809625" y="398621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Observación: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Garantiza optimalidad. Notablemente, evade a toda costa transitar la celda "W" dado que percibe rápidamente su exorbitante costo g(n)=30.</a:t>
            </a:r>
            <a:endParaRPr/>
          </a:p>
        </p:txBody>
      </p:sp>
      <p:pic>
        <p:nvPicPr>
          <p:cNvPr descr="image.png" id="310" name="Google Shape;31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393305"/>
            <a:ext cx="5267325" cy="314756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5.3: Búsqueda A* Óptima</a:t>
            </a:r>
            <a:endParaRPr/>
          </a:p>
        </p:txBody>
      </p:sp>
      <p:sp>
        <p:nvSpPr>
          <p:cNvPr id="312" name="Google Shape;312;p27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/>
        </p:nvSpPr>
        <p:spPr>
          <a:xfrm>
            <a:off x="571500" y="233362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 crítico comprender que, aunque Avara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 mas corto, el camino no es el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óptimo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por el costo que conlleva</a:t>
            </a:r>
            <a:endParaRPr/>
          </a:p>
        </p:txBody>
      </p:sp>
      <p:sp>
        <p:nvSpPr>
          <p:cNvPr id="318" name="Google Shape;318;p28"/>
          <p:cNvSpPr/>
          <p:nvPr/>
        </p:nvSpPr>
        <p:spPr>
          <a:xfrm>
            <a:off x="571500" y="3133725"/>
            <a:ext cx="11049000" cy="24669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28"/>
          <p:cNvGraphicFramePr/>
          <p:nvPr/>
        </p:nvGraphicFramePr>
        <p:xfrm>
          <a:off x="571500" y="31337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{C2CD5B49-E8AB-49DD-820D-CC4A440BD8A2}</a:tableStyleId>
              </a:tblPr>
              <a:tblGrid>
                <a:gridCol w="2493625"/>
                <a:gridCol w="3577375"/>
                <a:gridCol w="3299225"/>
                <a:gridCol w="1678775"/>
              </a:tblGrid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Estrategia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Métrica de Selección de Nodos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Información Ponderada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¿Es Óptima?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Primero en Profundidad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Nodo estructuralmente más profundo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Ninguna (Ciega / No Informada)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Búsqueda Avara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Menor valor de h(n)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Distancia estimada al objetivo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garantiza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Búsqueda A*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Menor valor de g(n) + h(n)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Costo real acumulado + Heurística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0" name="Google Shape;320;p28"/>
          <p:cNvSpPr/>
          <p:nvPr/>
        </p:nvSpPr>
        <p:spPr>
          <a:xfrm>
            <a:off x="571500" y="3738562"/>
            <a:ext cx="24936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3065115" y="3738562"/>
            <a:ext cx="3577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6642496" y="3738562"/>
            <a:ext cx="3299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9941718" y="3738562"/>
            <a:ext cx="1678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571500" y="4357687"/>
            <a:ext cx="24936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3065115" y="4357687"/>
            <a:ext cx="3577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6642496" y="4357687"/>
            <a:ext cx="3299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9941718" y="4357687"/>
            <a:ext cx="1678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571500" y="4976812"/>
            <a:ext cx="24936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3065115" y="4976812"/>
            <a:ext cx="3577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6642496" y="4976812"/>
            <a:ext cx="3299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9941718" y="4976812"/>
            <a:ext cx="1678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5: Resumen de Estrategias</a:t>
            </a:r>
            <a:endParaRPr/>
          </a:p>
        </p:txBody>
      </p:sp>
      <p:sp>
        <p:nvSpPr>
          <p:cNvPr id="333" name="Google Shape;333;p28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"/>
          <p:cNvSpPr/>
          <p:nvPr/>
        </p:nvSpPr>
        <p:spPr>
          <a:xfrm>
            <a:off x="5524500" y="2652712"/>
            <a:ext cx="11430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9"/>
          <p:cNvSpPr txBox="1"/>
          <p:nvPr/>
        </p:nvSpPr>
        <p:spPr>
          <a:xfrm>
            <a:off x="2405538" y="2995612"/>
            <a:ext cx="7380922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A* en Entorno Dinámico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4081462" y="4043362"/>
            <a:ext cx="4029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Ejercicio 6: Navegación de Agente en Cuadrículas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5" name="Google Shape;3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52625"/>
            <a:ext cx="5286375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2625"/>
            <a:ext cx="5286375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0"/>
          <p:cNvSpPr txBox="1"/>
          <p:nvPr/>
        </p:nvSpPr>
        <p:spPr>
          <a:xfrm>
            <a:off x="962025" y="23431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Entorno y Agente</a:t>
            </a:r>
            <a:endParaRPr/>
          </a:p>
        </p:txBody>
      </p:sp>
      <p:sp>
        <p:nvSpPr>
          <p:cNvPr id="348" name="Google Shape;348;p30"/>
          <p:cNvSpPr txBox="1"/>
          <p:nvPr/>
        </p:nvSpPr>
        <p:spPr>
          <a:xfrm>
            <a:off x="962025" y="288607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Trasladamos el algoritmo A* a un espacio más complejo: una grilla de 16x17.</a:t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6724650" y="23431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Dinamismo</a:t>
            </a:r>
            <a:endParaRPr/>
          </a:p>
        </p:txBody>
      </p:sp>
      <p:sp>
        <p:nvSpPr>
          <p:cNvPr id="350" name="Google Shape;350;p30"/>
          <p:cNvSpPr txBox="1"/>
          <p:nvPr/>
        </p:nvSpPr>
        <p:spPr>
          <a:xfrm>
            <a:off x="6724650" y="288607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coordenadas de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Inicio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 están codificadas en piedra.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1085850" y="36385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1200150" y="363855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Permite desplazamiento arriba, abajo, izquierda y derecha.</a:t>
            </a:r>
            <a:endParaRPr/>
          </a:p>
        </p:txBody>
      </p:sp>
      <p:sp>
        <p:nvSpPr>
          <p:cNvPr id="353" name="Google Shape;353;p30"/>
          <p:cNvSpPr txBox="1"/>
          <p:nvPr/>
        </p:nvSpPr>
        <p:spPr>
          <a:xfrm>
            <a:off x="1085850" y="43910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1200150" y="439102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Existen bloques negros inflexibles ("paredes") que deben sortearse.</a:t>
            </a:r>
            <a:endParaRPr/>
          </a:p>
        </p:txBody>
      </p:sp>
      <p:sp>
        <p:nvSpPr>
          <p:cNvPr id="355" name="Google Shape;355;p30"/>
          <p:cNvSpPr txBox="1"/>
          <p:nvPr/>
        </p:nvSpPr>
        <p:spPr>
          <a:xfrm>
            <a:off x="1085850" y="51435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6" name="Google Shape;356;p30"/>
          <p:cNvSpPr txBox="1"/>
          <p:nvPr/>
        </p:nvSpPr>
        <p:spPr>
          <a:xfrm>
            <a:off x="1200150" y="514350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Costo uniforme = 1 por bloque.</a:t>
            </a:r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6848475" y="36385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8" name="Google Shape;358;p30"/>
          <p:cNvSpPr txBox="1"/>
          <p:nvPr/>
        </p:nvSpPr>
        <p:spPr>
          <a:xfrm>
            <a:off x="6962775" y="363855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algoritmo puede ser invocado para solucionar el ruteo entre cualesquiera dos posiciones (x, y) libres.</a:t>
            </a:r>
            <a:endParaRPr/>
          </a:p>
        </p:txBody>
      </p:sp>
      <p:sp>
        <p:nvSpPr>
          <p:cNvPr id="359" name="Google Shape;359;p30"/>
          <p:cNvSpPr txBox="1"/>
          <p:nvPr/>
        </p:nvSpPr>
        <p:spPr>
          <a:xfrm>
            <a:off x="6848475" y="43910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0" name="Google Shape;360;p30"/>
          <p:cNvSpPr txBox="1"/>
          <p:nvPr/>
        </p:nvSpPr>
        <p:spPr>
          <a:xfrm>
            <a:off x="6962775" y="439102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Sigue operando bajo la Heurística de Distancia de Manhattan.</a:t>
            </a:r>
            <a:endParaRPr/>
          </a:p>
        </p:txBody>
      </p:sp>
      <p:sp>
        <p:nvSpPr>
          <p:cNvPr id="361" name="Google Shape;361;p3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6: Características del Problema</a:t>
            </a:r>
            <a:endParaRPr/>
          </a:p>
        </p:txBody>
      </p:sp>
      <p:sp>
        <p:nvSpPr>
          <p:cNvPr id="362" name="Google Shape;362;p30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7" name="Google Shape;36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621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1"/>
          <p:cNvSpPr txBox="1"/>
          <p:nvPr/>
        </p:nvSpPr>
        <p:spPr>
          <a:xfrm>
            <a:off x="571500" y="20621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 documentado de navegación sorteando la gran pared central del tablero.</a:t>
            </a:r>
            <a:endParaRPr/>
          </a:p>
        </p:txBody>
      </p:sp>
      <p:sp>
        <p:nvSpPr>
          <p:cNvPr id="369" name="Google Shape;369;p31"/>
          <p:cNvSpPr txBox="1"/>
          <p:nvPr/>
        </p:nvSpPr>
        <p:spPr>
          <a:xfrm>
            <a:off x="695325" y="28146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0" name="Google Shape;370;p31"/>
          <p:cNvSpPr txBox="1"/>
          <p:nvPr/>
        </p:nvSpPr>
        <p:spPr>
          <a:xfrm>
            <a:off x="809625" y="28146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Inicio Seleccionado: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Fila 1, Columna 1</a:t>
            </a:r>
            <a:endParaRPr/>
          </a:p>
        </p:txBody>
      </p:sp>
      <p:sp>
        <p:nvSpPr>
          <p:cNvPr id="371" name="Google Shape;371;p31"/>
          <p:cNvSpPr txBox="1"/>
          <p:nvPr/>
        </p:nvSpPr>
        <p:spPr>
          <a:xfrm>
            <a:off x="695325" y="32623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2" name="Google Shape;372;p31"/>
          <p:cNvSpPr txBox="1"/>
          <p:nvPr/>
        </p:nvSpPr>
        <p:spPr>
          <a:xfrm>
            <a:off x="809625" y="32623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Objetivo Seleccionado: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Fila 15, Columna 15</a:t>
            </a:r>
            <a:endParaRPr/>
          </a:p>
        </p:txBody>
      </p:sp>
      <p:sp>
        <p:nvSpPr>
          <p:cNvPr id="373" name="Google Shape;373;p31"/>
          <p:cNvSpPr txBox="1"/>
          <p:nvPr/>
        </p:nvSpPr>
        <p:spPr>
          <a:xfrm>
            <a:off x="695325" y="37099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4" name="Google Shape;374;p31"/>
          <p:cNvSpPr txBox="1"/>
          <p:nvPr/>
        </p:nvSpPr>
        <p:spPr>
          <a:xfrm>
            <a:off x="809625" y="37099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Evaluación: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expandieron 191 nodos para trazar la ruta perfecta alrededor del obstáculo masivo.</a:t>
            </a:r>
            <a:endParaRPr/>
          </a:p>
        </p:txBody>
      </p:sp>
      <p:sp>
        <p:nvSpPr>
          <p:cNvPr id="375" name="Google Shape;375;p31"/>
          <p:cNvSpPr txBox="1"/>
          <p:nvPr/>
        </p:nvSpPr>
        <p:spPr>
          <a:xfrm>
            <a:off x="695325" y="44624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6" name="Google Shape;376;p31"/>
          <p:cNvSpPr txBox="1"/>
          <p:nvPr/>
        </p:nvSpPr>
        <p:spPr>
          <a:xfrm>
            <a:off x="809625" y="44624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Costo final: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28 movimientos exactos.</a:t>
            </a:r>
            <a:endParaRPr/>
          </a:p>
        </p:txBody>
      </p:sp>
      <p:pic>
        <p:nvPicPr>
          <p:cNvPr descr="image.png" id="377" name="Google Shape;37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9456" y="2071687"/>
            <a:ext cx="3795712" cy="3790801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 6: Ejecución de Ruta A*</a:t>
            </a:r>
            <a:endParaRPr/>
          </a:p>
        </p:txBody>
      </p:sp>
      <p:sp>
        <p:nvSpPr>
          <p:cNvPr id="379" name="Google Shape;379;p31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/>
          <p:nvPr/>
        </p:nvSpPr>
        <p:spPr>
          <a:xfrm>
            <a:off x="2190750" y="2366962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Poder de la Heurística: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Introducir conocimiento del dominio en la función objetivo reduce dramáticamente la ceguera computacional y el tiempo de respuesta.</a:t>
            </a:r>
            <a:endParaRPr/>
          </a:p>
        </p:txBody>
      </p:sp>
      <p:sp>
        <p:nvSpPr>
          <p:cNvPr id="385" name="Google Shape;385;p32"/>
          <p:cNvSpPr txBox="1"/>
          <p:nvPr/>
        </p:nvSpPr>
        <p:spPr>
          <a:xfrm>
            <a:off x="2190750" y="3167062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Avara vs A*: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Avara es miope frente al costo pasado; A* equilibra magistralmente el esfuerzo ya invertido g(n) con la predicción a futuro h(n).</a:t>
            </a:r>
            <a:endParaRPr/>
          </a:p>
        </p:txBody>
      </p:sp>
      <p:sp>
        <p:nvSpPr>
          <p:cNvPr id="386" name="Google Shape;386;p32"/>
          <p:cNvSpPr txBox="1"/>
          <p:nvPr/>
        </p:nvSpPr>
        <p:spPr>
          <a:xfrm>
            <a:off x="2190750" y="3967162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Estructuras de Datos Críticas: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Implementar adecuadamente colas (FIFO), pilas (LIFO) y colas de prioridad (Heaps) es fundamental para materializar las distintas metodologías teóricas.</a:t>
            </a:r>
            <a:endParaRPr/>
          </a:p>
        </p:txBody>
      </p:sp>
      <p:sp>
        <p:nvSpPr>
          <p:cNvPr id="387" name="Google Shape;387;p32"/>
          <p:cNvSpPr txBox="1"/>
          <p:nvPr/>
        </p:nvSpPr>
        <p:spPr>
          <a:xfrm>
            <a:off x="2190750" y="4767262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Abstracción Universal: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Ya sea en un grafo con nodos con letras abstractas o en coordenadas físicas bidimensionales (x, y), los agentes pueden resolver problemas si son mapeados coherentemente.</a:t>
            </a:r>
            <a:endParaRPr/>
          </a:p>
        </p:txBody>
      </p:sp>
      <p:pic>
        <p:nvPicPr>
          <p:cNvPr descr="image.png" id="388" name="Google Shape;38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405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051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052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80536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 del Trabajo Práctico</a:t>
            </a:r>
            <a:endParaRPr/>
          </a:p>
        </p:txBody>
      </p:sp>
      <p:sp>
        <p:nvSpPr>
          <p:cNvPr id="393" name="Google Shape;393;p32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3"/>
          <p:cNvSpPr txBox="1"/>
          <p:nvPr/>
        </p:nvSpPr>
        <p:spPr>
          <a:xfrm>
            <a:off x="295275" y="247739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399" name="Google Shape;399;p33"/>
          <p:cNvSpPr txBox="1"/>
          <p:nvPr/>
        </p:nvSpPr>
        <p:spPr>
          <a:xfrm>
            <a:off x="571500" y="3810892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¡Muchas gracias por su atención!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